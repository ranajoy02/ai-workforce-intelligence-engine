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19456"/>
          </a:xfrm>
          <a:prstGeom prst="rect">
            <a:avLst/>
          </a:prstGeom>
          <a:solidFill>
            <a:srgbClr val="FF2D6E">
              <a:alpha val="14000"/>
            </a:srgbClr>
          </a:solidFill>
          <a:ln w="7620">
            <a:solidFill>
              <a:srgbClr val="FF2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2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FOUNDERS TALK
</a:t>
            </a:r>
            <a:pPr algn="l" indent="0" marL="0">
              <a:buNone/>
            </a:pPr>
            <a:r>
              <a:rPr lang="en-US" sz="3000" b="1" dirty="0">
                <a:solidFill>
                  <a:srgbClr val="FF2D6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ABOUT THEIR
</a:t>
            </a:r>
            <a:pPr algn="l" indent="0" marL="0">
              <a:buNone/>
            </a:pPr>
            <a:r>
              <a:rPr lang="en-US" sz="30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482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A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414016"/>
            <a:ext cx="3931920" cy="749808"/>
          </a:xfrm>
          <a:prstGeom prst="rect">
            <a:avLst/>
          </a:prstGeom>
          <a:solidFill>
            <a:srgbClr val="110809"/>
          </a:solidFill>
          <a:ln w="8890">
            <a:solidFill>
              <a:srgbClr val="FF2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68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2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MESSAGE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are already telling us what they need.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companies ignore these conversations.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438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PAIN EXAMPLES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3648456"/>
            <a:ext cx="3931920" cy="347472"/>
          </a:xfrm>
          <a:prstGeom prst="rect">
            <a:avLst/>
          </a:prstGeom>
          <a:solidFill>
            <a:srgbClr val="FF2D6E">
              <a:alpha val="13000"/>
            </a:srgbClr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648456"/>
            <a:ext cx="45720" cy="347472"/>
          </a:xfrm>
          <a:prstGeom prst="rect">
            <a:avLst/>
          </a:prstGeom>
          <a:solidFill>
            <a:srgbClr val="FF2D6E"/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685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is taking too long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105656"/>
            <a:ext cx="3931920" cy="347472"/>
          </a:xfrm>
          <a:prstGeom prst="rect">
            <a:avLst/>
          </a:prstGeom>
          <a:solidFill>
            <a:srgbClr val="FF7A00">
              <a:alpha val="13000"/>
            </a:srgbClr>
          </a:solidFill>
          <a:ln w="6350">
            <a:solidFill>
              <a:srgbClr val="FF7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4105656"/>
            <a:ext cx="45720" cy="34747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4142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teams are overloaded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562856"/>
            <a:ext cx="3931920" cy="347472"/>
          </a:xfrm>
          <a:prstGeom prst="rect">
            <a:avLst/>
          </a:prstGeom>
          <a:solidFill>
            <a:srgbClr val="00DFD8">
              <a:alpha val="13000"/>
            </a:srgbClr>
          </a:solidFill>
          <a:ln w="6350">
            <a:solidFill>
              <a:srgbClr val="00D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562856"/>
            <a:ext cx="45720" cy="347472"/>
          </a:xfrm>
          <a:prstGeom prst="rect">
            <a:avLst/>
          </a:prstGeom>
          <a:solidFill>
            <a:srgbClr val="00DFD8"/>
          </a:solidFill>
          <a:ln w="12700">
            <a:solidFill>
              <a:srgbClr val="00D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4599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support is overwhelmed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"/>
            <a:ext cx="0" cy="4754880"/>
          </a:xfrm>
          <a:prstGeom prst="line">
            <a:avLst/>
          </a:prstGeom>
          <a:noFill/>
          <a:ln w="8890">
            <a:solidFill>
              <a:srgbClr val="1E1E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60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FOUNDERS TALK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475488"/>
            <a:ext cx="1920240" cy="822960"/>
          </a:xfrm>
          <a:prstGeom prst="rect">
            <a:avLst/>
          </a:prstGeom>
          <a:solidFill>
            <a:srgbClr val="0F0F14"/>
          </a:solidFill>
          <a:ln w="7620">
            <a:solidFill>
              <a:srgbClr val="0A66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475488"/>
            <a:ext cx="1920240" cy="5029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5394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795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6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Hiring &amp; scaling signals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987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SDRs  ·  Scaling teams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475488"/>
            <a:ext cx="1920240" cy="822960"/>
          </a:xfrm>
          <a:prstGeom prst="rect">
            <a:avLst/>
          </a:prstGeom>
          <a:solidFill>
            <a:srgbClr val="0F0F14"/>
          </a:solidFill>
          <a:ln w="7620">
            <a:solidFill>
              <a:srgbClr val="FF4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475488"/>
            <a:ext cx="1920240" cy="5029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5394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795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 pain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987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debt  ·  Tool overload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1408176"/>
            <a:ext cx="1920240" cy="822960"/>
          </a:xfrm>
          <a:prstGeom prst="rect">
            <a:avLst/>
          </a:prstGeom>
          <a:solidFill>
            <a:srgbClr val="0F0F14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408176"/>
            <a:ext cx="1920240" cy="5029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472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(Twitter)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17282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&amp; momentum signals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fast  ·  Expanding ops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12280" y="1408176"/>
            <a:ext cx="1920240" cy="822960"/>
          </a:xfrm>
          <a:prstGeom prst="rect">
            <a:avLst/>
          </a:prstGeom>
          <a:solidFill>
            <a:srgbClr val="0F0F14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408176"/>
            <a:ext cx="192024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1472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Indie Hackers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17282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transparency signals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0372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gaps  ·  Process bottlenecks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00800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F3C"/>
                </a:solidFill>
              </a:rPr>
              <a:t>▼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54880" y="2651760"/>
            <a:ext cx="3977640" cy="713232"/>
          </a:xfrm>
          <a:prstGeom prst="rect">
            <a:avLst/>
          </a:prstGeom>
          <a:solidFill>
            <a:srgbClr val="0B110B"/>
          </a:solidFill>
          <a:ln w="8890">
            <a:solidFill>
              <a:srgbClr val="CCFF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26974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COLLECTED SIGNAL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82896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Problems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882896" y="3200400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delays  ·  Sales overload  ·  Support backlog  ·  Process gaps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40599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is a live database of founder pain. No scraping required — founders share it publicly.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19456"/>
          </a:xfrm>
          <a:prstGeom prst="rect">
            <a:avLst/>
          </a:prstGeom>
          <a:solidFill>
            <a:srgbClr val="00DFD8">
              <a:alpha val="14000"/>
            </a:srgbClr>
          </a:solidFill>
          <a:ln w="7620">
            <a:solidFill>
              <a:srgbClr val="00D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TURN FOUNDER PROBLEMS
</a:t>
            </a:r>
            <a:pPr algn="l" indent="0" marL="0">
              <a:buNone/>
            </a:pPr>
            <a:r>
              <a:rPr lang="en-US" sz="3000" b="1" dirty="0">
                <a:solidFill>
                  <a:srgbClr val="00DFD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INTO BUSINESS
</a:t>
            </a:r>
            <a:pPr algn="l" indent="0" marL="0">
              <a:buNone/>
            </a:pPr>
            <a:r>
              <a:rPr lang="en-US" sz="30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OPPORTUNITIES.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promoting services directly, we identify founder problems and create useful reports that show where automation can save time and money.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090672"/>
            <a:ext cx="3657600" cy="493776"/>
          </a:xfrm>
          <a:prstGeom prst="rect">
            <a:avLst/>
          </a:prstGeom>
          <a:solidFill>
            <a:srgbClr val="05100E"/>
          </a:solidFill>
          <a:ln w="8890">
            <a:solidFill>
              <a:srgbClr val="00D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3090672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helping first, selling later.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986784"/>
            <a:ext cx="0" cy="36576"/>
          </a:xfrm>
          <a:prstGeom prst="line">
            <a:avLst/>
          </a:prstGeom>
          <a:noFill/>
          <a:ln w="7620">
            <a:solidFill>
              <a:srgbClr val="FF2D6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94360" y="4261104"/>
            <a:ext cx="0" cy="36576"/>
          </a:xfrm>
          <a:prstGeom prst="line">
            <a:avLst/>
          </a:prstGeom>
          <a:noFill/>
          <a:ln w="7620">
            <a:solidFill>
              <a:srgbClr val="FF7A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" y="4535424"/>
            <a:ext cx="0" cy="36576"/>
          </a:xfrm>
          <a:prstGeom prst="line">
            <a:avLst/>
          </a:prstGeom>
          <a:noFill/>
          <a:ln w="7620">
            <a:solidFill>
              <a:srgbClr val="CCFF3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94360" y="4809744"/>
            <a:ext cx="0" cy="36576"/>
          </a:xfrm>
          <a:prstGeom prst="line">
            <a:avLst/>
          </a:prstGeom>
          <a:noFill/>
          <a:ln w="7620">
            <a:solidFill>
              <a:srgbClr val="00DFD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315968" y="201168"/>
            <a:ext cx="0" cy="4754880"/>
          </a:xfrm>
          <a:prstGeom prst="line">
            <a:avLst/>
          </a:prstGeom>
          <a:noFill/>
          <a:ln w="8890">
            <a:solidFill>
              <a:srgbClr val="1E1E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256032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5-STEP FLOW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62272" y="502920"/>
            <a:ext cx="4434840" cy="749808"/>
          </a:xfrm>
          <a:prstGeom prst="rect">
            <a:avLst/>
          </a:prstGeom>
          <a:solidFill>
            <a:srgbClr val="0F0F14"/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502920"/>
            <a:ext cx="45720" cy="749808"/>
          </a:xfrm>
          <a:prstGeom prst="rect">
            <a:avLst/>
          </a:prstGeom>
          <a:solidFill>
            <a:srgbClr val="FF2D6E"/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5424" y="740664"/>
            <a:ext cx="274320" cy="274320"/>
          </a:xfrm>
          <a:prstGeom prst="ellipse">
            <a:avLst/>
          </a:prstGeom>
          <a:solidFill>
            <a:srgbClr val="FF2D6E">
              <a:alpha val="25000"/>
            </a:srgbClr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740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82896" y="594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Problem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82896" y="886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from public platform conversations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74536" y="12527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2D6E"/>
                </a:solidFill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62272" y="1399032"/>
            <a:ext cx="4434840" cy="749808"/>
          </a:xfrm>
          <a:prstGeom prst="rect">
            <a:avLst/>
          </a:prstGeom>
          <a:solidFill>
            <a:srgbClr val="0F0F14"/>
          </a:solidFill>
          <a:ln w="6350">
            <a:solidFill>
              <a:srgbClr val="FF7A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1399032"/>
            <a:ext cx="45720" cy="74980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35424" y="1636776"/>
            <a:ext cx="274320" cy="274320"/>
          </a:xfrm>
          <a:prstGeom prst="ellipse">
            <a:avLst/>
          </a:prstGeom>
          <a:solidFill>
            <a:srgbClr val="FF7A00">
              <a:alpha val="25000"/>
            </a:srgbClr>
          </a:solidFill>
          <a:ln w="6350">
            <a:solidFill>
              <a:srgbClr val="FF7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82896" y="1490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82896" y="1783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pain type, urgency, category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74536" y="21488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A00"/>
                </a:solidFill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2295144"/>
            <a:ext cx="4434840" cy="749808"/>
          </a:xfrm>
          <a:prstGeom prst="rect">
            <a:avLst/>
          </a:prstGeom>
          <a:solidFill>
            <a:srgbClr val="0F0F14"/>
          </a:solidFill>
          <a:ln w="6350">
            <a:solidFill>
              <a:srgbClr val="CCFF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2295144"/>
            <a:ext cx="45720" cy="749808"/>
          </a:xfrm>
          <a:prstGeom prst="rect">
            <a:avLst/>
          </a:prstGeom>
          <a:solidFill>
            <a:srgbClr val="CCFF3C"/>
          </a:solidFill>
          <a:ln w="12700">
            <a:solidFill>
              <a:srgbClr val="CCFF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35424" y="2532888"/>
            <a:ext cx="274320" cy="274320"/>
          </a:xfrm>
          <a:prstGeom prst="ellipse">
            <a:avLst/>
          </a:prstGeom>
          <a:solidFill>
            <a:srgbClr val="CCFF3C">
              <a:alpha val="25000"/>
            </a:srgbClr>
          </a:solidFill>
          <a:ln w="6350">
            <a:solidFill>
              <a:srgbClr val="CCFF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82896" y="2386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82896" y="2679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 AI automation with ROI estimate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74536" y="3044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3C"/>
                </a:solidFill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62272" y="3191256"/>
            <a:ext cx="4434840" cy="749808"/>
          </a:xfrm>
          <a:prstGeom prst="rect">
            <a:avLst/>
          </a:prstGeom>
          <a:solidFill>
            <a:srgbClr val="0F0F14"/>
          </a:solidFill>
          <a:ln w="6350">
            <a:solidFill>
              <a:srgbClr val="00DF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2272" y="3191256"/>
            <a:ext cx="45720" cy="749808"/>
          </a:xfrm>
          <a:prstGeom prst="rect">
            <a:avLst/>
          </a:prstGeom>
          <a:solidFill>
            <a:srgbClr val="00DFD8"/>
          </a:solidFill>
          <a:ln w="12700">
            <a:solidFill>
              <a:srgbClr val="00DF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35424" y="3429000"/>
            <a:ext cx="274320" cy="274320"/>
          </a:xfrm>
          <a:prstGeom prst="ellipse">
            <a:avLst/>
          </a:prstGeom>
          <a:solidFill>
            <a:srgbClr val="00DFD8">
              <a:alpha val="25000"/>
            </a:srgbClr>
          </a:solidFill>
          <a:ln w="6350">
            <a:solidFill>
              <a:srgbClr val="00D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35424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3282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Report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82896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workforce audit document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74536" y="39410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FD8"/>
                </a:solidFill>
              </a:rPr>
              <a:t>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62272" y="4087368"/>
            <a:ext cx="4434840" cy="749808"/>
          </a:xfrm>
          <a:prstGeom prst="rect">
            <a:avLst/>
          </a:prstGeom>
          <a:solidFill>
            <a:srgbClr val="0F0F14"/>
          </a:solidFill>
          <a:ln w="6350">
            <a:solidFill>
              <a:srgbClr val="00E8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62272" y="4087368"/>
            <a:ext cx="45720" cy="7498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35424" y="4325112"/>
            <a:ext cx="274320" cy="274320"/>
          </a:xfrm>
          <a:prstGeom prst="ellipse">
            <a:avLst/>
          </a:prstGeom>
          <a:solidFill>
            <a:srgbClr val="00E87A">
              <a:alpha val="25000"/>
            </a:srgbClr>
          </a:solidFill>
          <a:ln w="6350">
            <a:solidFill>
              <a:srgbClr val="00E8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35424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82896" y="4178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82896" y="4471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Qualified, context-rich, pre-scored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83080" cy="219456"/>
          </a:xfrm>
          <a:prstGeom prst="rect">
            <a:avLst/>
          </a:prstGeom>
          <a:solidFill>
            <a:srgbClr val="FF7A00">
              <a:alpha val="14000"/>
            </a:srgbClr>
          </a:solidFill>
          <a:ln w="7620">
            <a:solidFill>
              <a:srgbClr val="FF7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OUR </a:t>
            </a:r>
            <a:pPr indent="0" marL="0">
              <a:buNone/>
            </a:pPr>
            <a:r>
              <a:rPr lang="en-US" sz="3600" b="1" dirty="0">
                <a:solidFill>
                  <a:srgbClr val="FF7A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finding conversations to generating qualified leads. Each platform plays a specific role.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1353312" cy="1225296"/>
          </a:xfrm>
          <a:prstGeom prst="rect">
            <a:avLst/>
          </a:prstGeom>
          <a:solidFill>
            <a:srgbClr val="0F0F14"/>
          </a:solidFill>
          <a:ln w="7620">
            <a:solidFill>
              <a:srgbClr val="FF2D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44752"/>
            <a:ext cx="1353312" cy="50292"/>
          </a:xfrm>
          <a:prstGeom prst="rect">
            <a:avLst/>
          </a:prstGeom>
          <a:solidFill>
            <a:srgbClr val="FF2D6E"/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517904"/>
            <a:ext cx="329184" cy="329184"/>
          </a:xfrm>
          <a:prstGeom prst="ellipse">
            <a:avLst/>
          </a:prstGeom>
          <a:solidFill>
            <a:srgbClr val="FF2D6E">
              <a:alpha val="20000"/>
            </a:srgbClr>
          </a:solidFill>
          <a:ln w="7620">
            <a:solidFill>
              <a:srgbClr val="FF2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9202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Conversations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73352" y="1883664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2D6E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55648" y="1444752"/>
            <a:ext cx="1353312" cy="1225296"/>
          </a:xfrm>
          <a:prstGeom prst="rect">
            <a:avLst/>
          </a:prstGeom>
          <a:solidFill>
            <a:srgbClr val="0F0F14"/>
          </a:solidFill>
          <a:ln w="7620">
            <a:solidFill>
              <a:srgbClr val="FF7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1444752"/>
            <a:ext cx="1353312" cy="5029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7712" y="1517904"/>
            <a:ext cx="329184" cy="329184"/>
          </a:xfrm>
          <a:prstGeom prst="ellipse">
            <a:avLst/>
          </a:prstGeom>
          <a:solidFill>
            <a:srgbClr val="FF7A00">
              <a:alpha val="20000"/>
            </a:srgbClr>
          </a:solidFill>
          <a:ln w="7620">
            <a:solidFill>
              <a:srgbClr val="FF7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19202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Common Problems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1883664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A0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91256" y="1444752"/>
            <a:ext cx="1353312" cy="1225296"/>
          </a:xfrm>
          <a:prstGeom prst="rect">
            <a:avLst/>
          </a:prstGeom>
          <a:solidFill>
            <a:srgbClr val="0F0F14"/>
          </a:solidFill>
          <a:ln w="7620">
            <a:solidFill>
              <a:srgbClr val="CCF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1256" y="1444752"/>
            <a:ext cx="1353312" cy="50292"/>
          </a:xfrm>
          <a:prstGeom prst="rect">
            <a:avLst/>
          </a:prstGeom>
          <a:solidFill>
            <a:srgbClr val="CCFF3C"/>
          </a:solidFill>
          <a:ln w="12700">
            <a:solidFill>
              <a:srgbClr val="CCF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1517904"/>
            <a:ext cx="329184" cy="329184"/>
          </a:xfrm>
          <a:prstGeom prst="ellipse">
            <a:avLst/>
          </a:prstGeom>
          <a:solidFill>
            <a:srgbClr val="CCFF3C">
              <a:alpha val="20000"/>
            </a:srgbClr>
          </a:solidFill>
          <a:ln w="7620">
            <a:solidFill>
              <a:srgbClr val="CCF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19202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44568" y="1883664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F3C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26864" y="1444752"/>
            <a:ext cx="1353312" cy="1225296"/>
          </a:xfrm>
          <a:prstGeom prst="rect">
            <a:avLst/>
          </a:prstGeom>
          <a:solidFill>
            <a:srgbClr val="0F0F14"/>
          </a:solidFill>
          <a:ln w="7620">
            <a:solidFill>
              <a:srgbClr val="00DF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1444752"/>
            <a:ext cx="1353312" cy="50292"/>
          </a:xfrm>
          <a:prstGeom prst="rect">
            <a:avLst/>
          </a:prstGeom>
          <a:solidFill>
            <a:srgbClr val="00DFD8"/>
          </a:solidFill>
          <a:ln w="12700">
            <a:solidFill>
              <a:srgbClr val="00D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38928" y="1517904"/>
            <a:ext cx="329184" cy="329184"/>
          </a:xfrm>
          <a:prstGeom prst="ellipse">
            <a:avLst/>
          </a:prstGeom>
          <a:solidFill>
            <a:srgbClr val="00DFD8">
              <a:alpha val="20000"/>
            </a:srgbClr>
          </a:solidFill>
          <a:ln w="7620">
            <a:solidFill>
              <a:srgbClr val="00D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0016" y="19202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Insights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0176" y="1883664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FD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62472" y="1444752"/>
            <a:ext cx="1353312" cy="1225296"/>
          </a:xfrm>
          <a:prstGeom prst="rect">
            <a:avLst/>
          </a:prstGeom>
          <a:solidFill>
            <a:srgbClr val="0F0F14"/>
          </a:solidFill>
          <a:ln w="7620">
            <a:solidFill>
              <a:srgbClr val="9B6E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62472" y="1444752"/>
            <a:ext cx="1353312" cy="50292"/>
          </a:xfrm>
          <a:prstGeom prst="rect">
            <a:avLst/>
          </a:prstGeom>
          <a:solidFill>
            <a:srgbClr val="9B6EFF"/>
          </a:solidFill>
          <a:ln w="12700">
            <a:solidFill>
              <a:srgbClr val="9B6E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74536" y="1517904"/>
            <a:ext cx="329184" cy="329184"/>
          </a:xfrm>
          <a:prstGeom prst="ellipse">
            <a:avLst/>
          </a:prstGeom>
          <a:solidFill>
            <a:srgbClr val="9B6EFF">
              <a:alpha val="20000"/>
            </a:srgbClr>
          </a:solidFill>
          <a:ln w="7620">
            <a:solidFill>
              <a:srgbClr val="9B6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35624" y="19202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 Visitors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15784" y="1883664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6EFF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98080" y="1444752"/>
            <a:ext cx="1353312" cy="1225296"/>
          </a:xfrm>
          <a:prstGeom prst="rect">
            <a:avLst/>
          </a:prstGeom>
          <a:solidFill>
            <a:srgbClr val="0F0F14"/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1444752"/>
            <a:ext cx="1353312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10144" y="1517904"/>
            <a:ext cx="329184" cy="329184"/>
          </a:xfrm>
          <a:prstGeom prst="ellipse">
            <a:avLst/>
          </a:prstGeom>
          <a:solidFill>
            <a:srgbClr val="00E87A">
              <a:alpha val="20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014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71232" y="19202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Leads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28346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ROLES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3054096"/>
            <a:ext cx="2084832" cy="1719072"/>
          </a:xfrm>
          <a:prstGeom prst="rect">
            <a:avLst/>
          </a:prstGeom>
          <a:solidFill>
            <a:srgbClr val="0F0F14"/>
          </a:solidFill>
          <a:ln w="7620">
            <a:solidFill>
              <a:srgbClr val="0A66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054096"/>
            <a:ext cx="50292" cy="171907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48056" y="341985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6C2"/>
                </a:solidFill>
              </a:rPr>
              <a:t>→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4088" y="34198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Hiring Signals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056" y="369417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scaling  ·  SDR hiring  ·  Headcount growth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14600" y="3054096"/>
            <a:ext cx="2084832" cy="1719072"/>
          </a:xfrm>
          <a:prstGeom prst="rect">
            <a:avLst/>
          </a:prstGeom>
          <a:solidFill>
            <a:srgbClr val="0F0F14"/>
          </a:solidFill>
          <a:ln w="7620">
            <a:solidFill>
              <a:srgbClr val="FF45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14600" y="3054096"/>
            <a:ext cx="50292" cy="171907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42616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642616" y="341985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500"/>
                </a:solidFill>
              </a:rPr>
              <a:t>→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898648" y="34198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Operational Problems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642616" y="369417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debt  ·  Tool overload  ·  Process breakdowns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3054096"/>
            <a:ext cx="2084832" cy="1719072"/>
          </a:xfrm>
          <a:prstGeom prst="rect">
            <a:avLst/>
          </a:prstGeom>
          <a:solidFill>
            <a:srgbClr val="0F0F14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054096"/>
            <a:ext cx="50292" cy="17190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37176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(Twitter)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837176" y="341985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→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93208" y="34198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Growth Discussions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37176" y="369417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fast  ·  Expanding ops  ·  10x hiring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03720" y="3054096"/>
            <a:ext cx="2084832" cy="1719072"/>
          </a:xfrm>
          <a:prstGeom prst="rect">
            <a:avLst/>
          </a:prstGeom>
          <a:solidFill>
            <a:srgbClr val="0F0F14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03720" y="3054096"/>
            <a:ext cx="50292" cy="17190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31736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Indie Hackers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031736" y="341985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287768" y="34198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Founder Stories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031736" y="369417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gaps  ·  Process bottlenecks  ·  Struggles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91640" cy="219456"/>
          </a:xfrm>
          <a:prstGeom prst="rect">
            <a:avLst/>
          </a:prstGeom>
          <a:solidFill>
            <a:srgbClr val="CCFF3C">
              <a:alpha val="14000"/>
            </a:srgbClr>
          </a:solidFill>
          <a:ln w="7620">
            <a:solidFill>
              <a:srgbClr val="CCF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WHAT I BUILT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PROTOTYPE  </a:t>
            </a:r>
            <a:pPr indent="0" marL="0">
              <a:buNone/>
            </a:pPr>
            <a:r>
              <a:rPr lang="en-US" sz="3600" b="1" dirty="0">
                <a:solidFill>
                  <a:srgbClr val="CCFF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showing how the process can be automated from signal collection to report generation.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426464"/>
            <a:ext cx="4114800" cy="3438144"/>
          </a:xfrm>
          <a:prstGeom prst="rect">
            <a:avLst/>
          </a:prstGeom>
          <a:solidFill>
            <a:srgbClr val="0F0F14"/>
          </a:solidFill>
          <a:ln w="8890">
            <a:solidFill>
              <a:srgbClr val="CCF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 PROTOTYPE WORKFLOW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767328" y="1463040"/>
            <a:ext cx="594360" cy="219456"/>
          </a:xfrm>
          <a:prstGeom prst="rect">
            <a:avLst/>
          </a:prstGeom>
          <a:solidFill>
            <a:srgbClr val="CCFF3C">
              <a:alpha val="14000"/>
            </a:srgbClr>
          </a:solidFill>
          <a:ln w="7620">
            <a:solidFill>
              <a:srgbClr val="CCF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4630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3840480" cy="347472"/>
          </a:xfrm>
          <a:prstGeom prst="rect">
            <a:avLst/>
          </a:prstGeom>
          <a:solidFill>
            <a:srgbClr val="FF2D6E">
              <a:alpha val="13000"/>
            </a:srgbClr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1865376"/>
            <a:ext cx="164592" cy="164592"/>
          </a:xfrm>
          <a:prstGeom prst="ellipse">
            <a:avLst/>
          </a:prstGeom>
          <a:solidFill>
            <a:srgbClr val="FF2D6E"/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1051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Problem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1214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2D6E"/>
                </a:solidFill>
              </a:rPr>
              <a:t>↓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3840480" cy="347472"/>
          </a:xfrm>
          <a:prstGeom prst="rect">
            <a:avLst/>
          </a:prstGeom>
          <a:solidFill>
            <a:srgbClr val="FF7A00">
              <a:alpha val="13000"/>
            </a:srgbClr>
          </a:solidFill>
          <a:ln w="6350">
            <a:solidFill>
              <a:srgbClr val="FF7A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340864"/>
            <a:ext cx="164592" cy="16459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8600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59689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7A00"/>
                </a:solidFill>
              </a:rPr>
              <a:t>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3840480" cy="347472"/>
          </a:xfrm>
          <a:prstGeom prst="rect">
            <a:avLst/>
          </a:prstGeom>
          <a:solidFill>
            <a:srgbClr val="CCFF3C">
              <a:alpha val="13000"/>
            </a:srgbClr>
          </a:solidFill>
          <a:ln w="6350">
            <a:solidFill>
              <a:srgbClr val="CCF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2816352"/>
            <a:ext cx="164592" cy="164592"/>
          </a:xfrm>
          <a:prstGeom prst="ellipse">
            <a:avLst/>
          </a:prstGeom>
          <a:solidFill>
            <a:srgbClr val="CCFF3C"/>
          </a:solidFill>
          <a:ln w="12700">
            <a:solidFill>
              <a:srgbClr val="CCF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76148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Recommendation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07238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FF3C"/>
                </a:solidFill>
              </a:rPr>
              <a:t>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3840480" cy="347472"/>
          </a:xfrm>
          <a:prstGeom prst="rect">
            <a:avLst/>
          </a:prstGeom>
          <a:solidFill>
            <a:srgbClr val="00DFD8">
              <a:alpha val="13000"/>
            </a:srgbClr>
          </a:solidFill>
          <a:ln w="6350">
            <a:solidFill>
              <a:srgbClr val="00D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3291840"/>
            <a:ext cx="164592" cy="164592"/>
          </a:xfrm>
          <a:prstGeom prst="ellipse">
            <a:avLst/>
          </a:prstGeom>
          <a:solidFill>
            <a:srgbClr val="00DFD8"/>
          </a:solidFill>
          <a:ln w="12700">
            <a:solidFill>
              <a:srgbClr val="00D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3697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54787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FD8"/>
                </a:solidFill>
              </a:rPr>
              <a:t>↓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675888"/>
            <a:ext cx="3840480" cy="347472"/>
          </a:xfrm>
          <a:prstGeom prst="rect">
            <a:avLst/>
          </a:prstGeom>
          <a:solidFill>
            <a:srgbClr val="00E87A">
              <a:alpha val="13000"/>
            </a:srgbClr>
          </a:solidFill>
          <a:ln w="6350">
            <a:solidFill>
              <a:srgbClr val="00E8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3767328"/>
            <a:ext cx="164592" cy="164592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712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Database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42816"/>
            <a:ext cx="3840480" cy="548640"/>
          </a:xfrm>
          <a:prstGeom prst="rect">
            <a:avLst/>
          </a:prstGeom>
          <a:solidFill>
            <a:srgbClr val="1E1E28"/>
          </a:solidFill>
          <a:ln w="5080">
            <a:solidFill>
              <a:srgbClr val="5A5A6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57200" y="42428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INSERT n8n SCREENSHOT 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353312"/>
            <a:ext cx="0" cy="3566160"/>
          </a:xfrm>
          <a:prstGeom prst="line">
            <a:avLst/>
          </a:prstGeom>
          <a:noFill/>
          <a:ln w="8890">
            <a:solidFill>
              <a:srgbClr val="1E1E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426464"/>
            <a:ext cx="4114800" cy="3438144"/>
          </a:xfrm>
          <a:prstGeom prst="rect">
            <a:avLst/>
          </a:prstGeom>
          <a:solidFill>
            <a:srgbClr val="0F0F14"/>
          </a:solidFill>
          <a:ln w="8890">
            <a:solidFill>
              <a:srgbClr val="00DF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14813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LANDING PAGE  —  WORKFORCE INTELLIGENCE INDEX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01184" y="1773936"/>
            <a:ext cx="1883664" cy="713232"/>
          </a:xfrm>
          <a:prstGeom prst="rect">
            <a:avLst/>
          </a:prstGeom>
          <a:solidFill>
            <a:srgbClr val="00DFD8">
              <a:alpha val="13000"/>
            </a:srgbClr>
          </a:solidFill>
          <a:ln w="6350">
            <a:solidFill>
              <a:srgbClr val="00DF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182880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F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 Audit Tool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92624" y="212140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AI readiness score for your company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76288" y="1773936"/>
            <a:ext cx="1883664" cy="713232"/>
          </a:xfrm>
          <a:prstGeom prst="rect">
            <a:avLst/>
          </a:prstGeom>
          <a:solidFill>
            <a:srgbClr val="CCFF3C">
              <a:alpha val="13000"/>
            </a:srgbClr>
          </a:solidFill>
          <a:ln w="6350">
            <a:solidFill>
              <a:srgbClr val="CCFF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182880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Index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67728" y="212140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50-signal benchmark dataset of founder pain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01184" y="2615184"/>
            <a:ext cx="1883664" cy="713232"/>
          </a:xfrm>
          <a:prstGeom prst="rect">
            <a:avLst/>
          </a:prstGeom>
          <a:solidFill>
            <a:srgbClr val="FF2D6E">
              <a:alpha val="13000"/>
            </a:srgbClr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2670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 Detection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92624" y="296265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where automation can help most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76288" y="2615184"/>
            <a:ext cx="1883664" cy="713232"/>
          </a:xfrm>
          <a:prstGeom prst="rect">
            <a:avLst/>
          </a:prstGeom>
          <a:solidFill>
            <a:srgbClr val="FF7A00">
              <a:alpha val="13000"/>
            </a:srgbClr>
          </a:solidFill>
          <a:ln w="6350">
            <a:solidFill>
              <a:srgbClr val="FF7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2670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Savings Estimation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67728" y="296265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savings per AI employee type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01184" y="4242816"/>
            <a:ext cx="3840480" cy="548640"/>
          </a:xfrm>
          <a:prstGeom prst="rect">
            <a:avLst/>
          </a:prstGeom>
          <a:solidFill>
            <a:srgbClr val="1E1E28"/>
          </a:solidFill>
          <a:ln w="5080">
            <a:solidFill>
              <a:srgbClr val="5A5A68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901184" y="42428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INSERT LANDING PAGE SCREENSHOT ]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4919472"/>
            <a:ext cx="8567928" cy="164592"/>
          </a:xfrm>
          <a:prstGeom prst="rect">
            <a:avLst/>
          </a:prstGeom>
          <a:solidFill>
            <a:srgbClr val="0A0A0E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194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working prototype showing how the full process can be automated — from signal collection to report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377440" cy="219456"/>
          </a:xfrm>
          <a:prstGeom prst="rect">
            <a:avLst/>
          </a:prstGeom>
          <a:solidFill>
            <a:srgbClr val="9B6EFF">
              <a:alpha val="14000"/>
            </a:srgbClr>
          </a:solidFill>
          <a:ln w="7620">
            <a:solidFill>
              <a:srgbClr val="9B6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B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DISTRIBUTION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WE GET
</a:t>
            </a:r>
            <a:pPr algn="l" indent="0" marL="0">
              <a:buNone/>
            </a:pPr>
            <a:r>
              <a:rPr lang="en-US" sz="3600" b="1" dirty="0">
                <a:solidFill>
                  <a:srgbClr val="9B6E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1,000 VISITORS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88366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becomes multiple content pieces across platforms, creating a compounding distribution flywheel.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432304"/>
            <a:ext cx="3749040" cy="420624"/>
          </a:xfrm>
          <a:prstGeom prst="rect">
            <a:avLst/>
          </a:prstGeom>
          <a:solidFill>
            <a:srgbClr val="090913"/>
          </a:solidFill>
          <a:ln w="8890">
            <a:solidFill>
              <a:srgbClr val="9B6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2432304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insight becomes multiple content pieces.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9443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INSIGHT  →  MANY CHANNELS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3163824"/>
            <a:ext cx="3749040" cy="310896"/>
          </a:xfrm>
          <a:prstGeom prst="rect">
            <a:avLst/>
          </a:prstGeom>
          <a:solidFill>
            <a:srgbClr val="CCFF3C">
              <a:alpha val="13000"/>
            </a:srgbClr>
          </a:solidFill>
          <a:ln w="6350">
            <a:solidFill>
              <a:srgbClr val="CCF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31638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FF3C"/>
                </a:solidFill>
              </a:rPr>
              <a:t>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3749040" cy="310896"/>
          </a:xfrm>
          <a:prstGeom prst="rect">
            <a:avLst/>
          </a:prstGeom>
          <a:solidFill>
            <a:srgbClr val="FF4500">
              <a:alpha val="13000"/>
            </a:srgbClr>
          </a:solidFill>
          <a:ln w="6350">
            <a:solidFill>
              <a:srgbClr val="FF4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547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 Post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85876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500"/>
                </a:solidFill>
              </a:rPr>
              <a:t>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3749040" cy="310896"/>
          </a:xfrm>
          <a:prstGeom prst="rect">
            <a:avLst/>
          </a:prstGeom>
          <a:solidFill>
            <a:srgbClr val="AAAAAA">
              <a:alpha val="13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9319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Thread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4281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4315968"/>
            <a:ext cx="3749040" cy="310896"/>
          </a:xfrm>
          <a:prstGeom prst="rect">
            <a:avLst/>
          </a:prstGeom>
          <a:solidFill>
            <a:srgbClr val="FF2D6E">
              <a:alpha val="13000"/>
            </a:srgbClr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3159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Replies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2686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2D6E"/>
                </a:solidFill>
              </a:rPr>
              <a:t>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4700016"/>
            <a:ext cx="3749040" cy="310896"/>
          </a:xfrm>
          <a:prstGeom prst="rect">
            <a:avLst/>
          </a:prstGeom>
          <a:solidFill>
            <a:srgbClr val="0EA5E9">
              <a:alpha val="13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47000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Indie Hackers Post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07408" y="201168"/>
            <a:ext cx="0" cy="4754880"/>
          </a:xfrm>
          <a:prstGeom prst="line">
            <a:avLst/>
          </a:prstGeom>
          <a:noFill/>
          <a:ln w="8890">
            <a:solidFill>
              <a:srgbClr val="1E1E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256032"/>
            <a:ext cx="4407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ENGAGEMENT EXAMPLE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53712" y="493776"/>
            <a:ext cx="4407408" cy="1078992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56692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81728" y="768096"/>
            <a:ext cx="4151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"Hiring SDRs is getting too expensive."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1728" y="1188720"/>
            <a:ext cx="4151376" cy="0"/>
          </a:xfrm>
          <a:prstGeom prst="line">
            <a:avLst/>
          </a:prstGeom>
          <a:noFill/>
          <a:ln w="6350">
            <a:solidFill>
              <a:srgbClr val="1E1E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261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RESPONSE: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81728" y="1444752"/>
            <a:ext cx="415137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analyzed founder discussions and found sales-related challenges were the most common issue. Here's a framework to evaluate whether automation can help."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53712" y="1719072"/>
            <a:ext cx="4407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 MATH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53712" y="1938528"/>
            <a:ext cx="4407408" cy="420624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9751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insight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42048" y="1975104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content pieces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53712" y="2468880"/>
            <a:ext cx="4407408" cy="420624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5054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content pieces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42048" y="250545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platforms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53712" y="2999232"/>
            <a:ext cx="4407408" cy="420624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035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total posts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42048" y="30358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B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×50 avg visitors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53712" y="3529584"/>
            <a:ext cx="4407408" cy="420624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3566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42048" y="356616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 visitors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53712" y="4151376"/>
            <a:ext cx="4407408" cy="731520"/>
          </a:xfrm>
          <a:prstGeom prst="rect">
            <a:avLst/>
          </a:prstGeom>
          <a:solidFill>
            <a:srgbClr val="0A0A0E"/>
          </a:solidFill>
          <a:ln w="8890">
            <a:solidFill>
              <a:srgbClr val="9B6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420624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B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81728" y="4407408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targeted audiences convert better than large untargeted audiences.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19456"/>
          </a:xfrm>
          <a:prstGeom prst="rect">
            <a:avLst/>
          </a:prstGeom>
          <a:solidFill>
            <a:srgbClr val="00DFD8">
              <a:alpha val="14000"/>
            </a:srgbClr>
          </a:solidFill>
          <a:ln w="7620">
            <a:solidFill>
              <a:srgbClr val="00D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THE FUNNEL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WE GET
</a:t>
            </a:r>
            <a:pPr algn="l" indent="0" marL="0">
              <a:buNone/>
            </a:pPr>
            <a:r>
              <a:rPr lang="en-US" sz="2800" b="1" dirty="0">
                <a:solidFill>
                  <a:srgbClr val="00DFD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 QUALIFIED
</a:t>
            </a:r>
            <a:pPr algn="l" indent="0" marL="0">
              <a:buNone/>
            </a:pPr>
            <a:r>
              <a:rPr lang="en-US" sz="28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LEADS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07808" y="256032"/>
            <a:ext cx="694944" cy="786384"/>
          </a:xfrm>
          <a:prstGeom prst="rect">
            <a:avLst/>
          </a:prstGeom>
          <a:solidFill>
            <a:srgbClr val="0F0F14"/>
          </a:solidFill>
          <a:ln w="8890">
            <a:solidFill>
              <a:srgbClr val="CCF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07808" y="274320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07808" y="749808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75320" y="256032"/>
            <a:ext cx="694944" cy="786384"/>
          </a:xfrm>
          <a:prstGeom prst="rect">
            <a:avLst/>
          </a:prstGeom>
          <a:solidFill>
            <a:srgbClr val="0F0F14"/>
          </a:solidFill>
          <a:ln w="8890">
            <a:solidFill>
              <a:srgbClr val="00D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74320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75320" y="749808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 TO LEAD FUNNEL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3730752" cy="237744"/>
          </a:xfrm>
          <a:prstGeom prst="rect">
            <a:avLst/>
          </a:prstGeom>
          <a:solidFill>
            <a:srgbClr val="FF2D6E">
              <a:alpha val="20000"/>
            </a:srgbClr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39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Founder Discussions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8600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Collected from 4 platforms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3059217" cy="237744"/>
          </a:xfrm>
          <a:prstGeom prst="rect">
            <a:avLst/>
          </a:prstGeom>
          <a:solidFill>
            <a:srgbClr val="FF7A00">
              <a:alpha val="20000"/>
            </a:srgbClr>
          </a:solidFill>
          <a:ln w="6350">
            <a:solidFill>
              <a:srgbClr val="FF7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14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Reports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76148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Generated from top signals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2980944"/>
            <a:ext cx="2462296" cy="237744"/>
          </a:xfrm>
          <a:prstGeom prst="rect">
            <a:avLst/>
          </a:prstGeom>
          <a:solidFill>
            <a:srgbClr val="CCFF3C">
              <a:alpha val="20000"/>
            </a:srgbClr>
          </a:solidFill>
          <a:ln w="6350">
            <a:solidFill>
              <a:srgbClr val="CCF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0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F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Content Posts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23697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Distributed across Reddit, X, LinkedIn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1865376" cy="237744"/>
          </a:xfrm>
          <a:prstGeom prst="rect">
            <a:avLst/>
          </a:prstGeom>
          <a:solidFill>
            <a:srgbClr val="00DFD8">
              <a:alpha val="20000"/>
            </a:srgbClr>
          </a:solidFill>
          <a:ln w="6350">
            <a:solidFill>
              <a:srgbClr val="00D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4655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F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 Visitors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371246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20 posts × avg 50 visitors each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1268456" cy="237744"/>
          </a:xfrm>
          <a:prstGeom prst="rect">
            <a:avLst/>
          </a:prstGeom>
          <a:solidFill>
            <a:srgbClr val="9B6EFF">
              <a:alpha val="20000"/>
            </a:srgbClr>
          </a:solidFill>
          <a:ln w="6350">
            <a:solidFill>
              <a:srgbClr val="9B6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941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Report Requests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418795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5% conversion from visitors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4407408"/>
            <a:ext cx="820765" cy="237744"/>
          </a:xfrm>
          <a:prstGeom prst="rect">
            <a:avLst/>
          </a:prstGeom>
          <a:solidFill>
            <a:srgbClr val="00E87A">
              <a:alpha val="20000"/>
            </a:srgbClr>
          </a:solidFill>
          <a:ln w="6350">
            <a:solidFill>
              <a:srgbClr val="00E8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4165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Qualified Leads 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" y="466344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30% qualification rate — TARGET MET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81728" y="1097280"/>
            <a:ext cx="0" cy="3794760"/>
          </a:xfrm>
          <a:prstGeom prst="line">
            <a:avLst/>
          </a:prstGeom>
          <a:noFill/>
          <a:ln w="8890">
            <a:solidFill>
              <a:srgbClr val="1E1E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828800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28032" y="2029968"/>
            <a:ext cx="4041648" cy="420624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066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posts  ×  50 visitors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16368" y="20665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1,000 visitors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28032" y="2560320"/>
            <a:ext cx="4041648" cy="420624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25968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  ×  5% conversion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16368" y="25968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B6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50 requests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28032" y="3090672"/>
            <a:ext cx="4041648" cy="420624"/>
          </a:xfrm>
          <a:prstGeom prst="rect">
            <a:avLst/>
          </a:prstGeom>
          <a:solidFill>
            <a:srgbClr val="0F0F14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requests  ×  30% qualify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16368" y="31272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15 leads  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28032" y="3749040"/>
            <a:ext cx="4041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ASSUMPTIONS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28032" y="3950208"/>
            <a:ext cx="128016" cy="128016"/>
          </a:xfrm>
          <a:prstGeom prst="ellipse">
            <a:avLst/>
          </a:prstGeom>
          <a:solidFill>
            <a:srgbClr val="CCFF3C"/>
          </a:solidFill>
          <a:ln w="12700">
            <a:solidFill>
              <a:srgbClr val="CCFF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content post averages 50 visitors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28032" y="4224528"/>
            <a:ext cx="128016" cy="128016"/>
          </a:xfrm>
          <a:prstGeom prst="ellipse">
            <a:avLst/>
          </a:prstGeom>
          <a:solidFill>
            <a:srgbClr val="00DFD8"/>
          </a:solidFill>
          <a:ln w="12700">
            <a:solidFill>
              <a:srgbClr val="00DF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1879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visitors request a report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28032" y="4498848"/>
            <a:ext cx="128016" cy="128016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44622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requests qualify as sales leads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28032" y="4754880"/>
            <a:ext cx="4041648" cy="237744"/>
          </a:xfrm>
          <a:prstGeom prst="rect">
            <a:avLst/>
          </a:prstGeom>
          <a:solidFill>
            <a:srgbClr val="0A0A0E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47548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targeted audiences convert better than large untargeted audiences.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83080" cy="219456"/>
          </a:xfrm>
          <a:prstGeom prst="rect">
            <a:avLst/>
          </a:prstGeom>
          <a:solidFill>
            <a:srgbClr val="00E87A">
              <a:alpha val="14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WHY THIS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EF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THIS STRATEGY  </a:t>
            </a:r>
            <a:pPr indent="0" marL="0">
              <a:buNone/>
            </a:pPr>
            <a:r>
              <a:rPr lang="en-US" sz="3200" b="1" dirty="0">
                <a:solidFill>
                  <a:srgbClr val="00E8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IS DIFFERENT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COMPARISON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77640" cy="2340864"/>
          </a:xfrm>
          <a:prstGeom prst="rect">
            <a:avLst/>
          </a:prstGeom>
          <a:solidFill>
            <a:srgbClr val="141419"/>
          </a:solidFill>
          <a:ln w="8890">
            <a:solidFill>
              <a:srgbClr val="1E1E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264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APPROACH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12064" y="1664208"/>
            <a:ext cx="3694176" cy="384048"/>
          </a:xfrm>
          <a:prstGeom prst="rect">
            <a:avLst/>
          </a:prstGeom>
          <a:solidFill>
            <a:srgbClr val="5A5A68">
              <a:alpha val="8000"/>
            </a:srgbClr>
          </a:solidFill>
          <a:ln w="6350">
            <a:solidFill>
              <a:srgbClr val="5A5A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64208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A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Content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21031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68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064" y="2542032"/>
            <a:ext cx="3694176" cy="384048"/>
          </a:xfrm>
          <a:prstGeom prst="rect">
            <a:avLst/>
          </a:prstGeom>
          <a:solidFill>
            <a:srgbClr val="5A5A68">
              <a:alpha val="8000"/>
            </a:srgbClr>
          </a:solidFill>
          <a:ln w="6350">
            <a:solidFill>
              <a:srgbClr val="5A5A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542032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A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 People Care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" y="3054096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content creation with no guarantee of reaching the right people at the right time.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07408" y="228600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E2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73168" y="1371600"/>
            <a:ext cx="4114800" cy="2340864"/>
          </a:xfrm>
          <a:prstGeom prst="rect">
            <a:avLst/>
          </a:prstGeom>
          <a:solidFill>
            <a:srgbClr val="080E08"/>
          </a:solidFill>
          <a:ln w="8890">
            <a:solidFill>
              <a:srgbClr val="00E8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4264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APPROACH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19472" y="1664208"/>
            <a:ext cx="3822192" cy="310896"/>
          </a:xfrm>
          <a:prstGeom prst="rect">
            <a:avLst/>
          </a:prstGeom>
          <a:solidFill>
            <a:srgbClr val="FF2D6E">
              <a:alpha val="15000"/>
            </a:srgbClr>
          </a:solidFill>
          <a:ln w="6350">
            <a:solidFill>
              <a:srgbClr val="FF2D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664208"/>
            <a:ext cx="36576" cy="310896"/>
          </a:xfrm>
          <a:prstGeom prst="rect">
            <a:avLst/>
          </a:prstGeom>
          <a:solidFill>
            <a:srgbClr val="FF2D6E"/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664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Real Problems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1975104"/>
            <a:ext cx="201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2D6E"/>
                </a:solidFill>
              </a:rPr>
              <a:t>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19472" y="2048256"/>
            <a:ext cx="3822192" cy="310896"/>
          </a:xfrm>
          <a:prstGeom prst="rect">
            <a:avLst/>
          </a:prstGeom>
          <a:solidFill>
            <a:srgbClr val="CCFF3C">
              <a:alpha val="15000"/>
            </a:srgbClr>
          </a:solidFill>
          <a:ln w="6350">
            <a:solidFill>
              <a:srgbClr val="CCF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472" y="2048256"/>
            <a:ext cx="36576" cy="310896"/>
          </a:xfrm>
          <a:prstGeom prst="rect">
            <a:avLst/>
          </a:prstGeom>
          <a:solidFill>
            <a:srgbClr val="CCFF3C"/>
          </a:solidFill>
          <a:ln w="12700">
            <a:solidFill>
              <a:srgbClr val="CCFF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0482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Useful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2359152"/>
            <a:ext cx="201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FF3C"/>
                </a:solidFill>
              </a:rPr>
              <a:t>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19472" y="2432304"/>
            <a:ext cx="3822192" cy="310896"/>
          </a:xfrm>
          <a:prstGeom prst="rect">
            <a:avLst/>
          </a:prstGeom>
          <a:solidFill>
            <a:srgbClr val="00DFD8">
              <a:alpha val="15000"/>
            </a:srgbClr>
          </a:solidFill>
          <a:ln w="6350">
            <a:solidFill>
              <a:srgbClr val="00D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2432304"/>
            <a:ext cx="36576" cy="310896"/>
          </a:xfrm>
          <a:prstGeom prst="rect">
            <a:avLst/>
          </a:prstGeom>
          <a:solidFill>
            <a:srgbClr val="00DFD8"/>
          </a:solidFill>
          <a:ln w="12700">
            <a:solidFill>
              <a:srgbClr val="00D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432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Them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2743200"/>
            <a:ext cx="201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FD8"/>
                </a:solidFill>
              </a:rPr>
              <a:t>↓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19472" y="2816352"/>
            <a:ext cx="3822192" cy="310896"/>
          </a:xfrm>
          <a:prstGeom prst="rect">
            <a:avLst/>
          </a:prstGeom>
          <a:solidFill>
            <a:srgbClr val="9B6EFF">
              <a:alpha val="15000"/>
            </a:srgbClr>
          </a:solidFill>
          <a:ln w="6350">
            <a:solidFill>
              <a:srgbClr val="9B6E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2816352"/>
            <a:ext cx="36576" cy="310896"/>
          </a:xfrm>
          <a:prstGeom prst="rect">
            <a:avLst/>
          </a:prstGeom>
          <a:solidFill>
            <a:srgbClr val="9B6EFF"/>
          </a:solidFill>
          <a:ln w="12700">
            <a:solidFill>
              <a:srgbClr val="9B6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8163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Conversations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3127248"/>
            <a:ext cx="201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6EFF"/>
                </a:solidFill>
              </a:rPr>
              <a:t>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19472" y="3200400"/>
            <a:ext cx="3822192" cy="310896"/>
          </a:xfrm>
          <a:prstGeom prst="rect">
            <a:avLst/>
          </a:prstGeom>
          <a:solidFill>
            <a:srgbClr val="00E87A">
              <a:alpha val="15000"/>
            </a:srgbClr>
          </a:solidFill>
          <a:ln w="6350">
            <a:solidFill>
              <a:srgbClr val="00E8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9472" y="3200400"/>
            <a:ext cx="36576" cy="310896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2004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Leads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822192"/>
            <a:ext cx="8522208" cy="1133856"/>
          </a:xfrm>
          <a:prstGeom prst="rect">
            <a:avLst/>
          </a:prstGeom>
          <a:solidFill>
            <a:srgbClr val="070D08"/>
          </a:solidFill>
          <a:ln w="8890">
            <a:solidFill>
              <a:srgbClr val="CCFF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387705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 ARE NOT CREATING CONTENT FOR ATTENTION.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FF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 ARE CREATING SOLUTIONS FOR EXISTING PROBLEMS.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064" y="44256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EE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real founder problems, turn them into useful insights, and use those insights to create conversations, traffic, and qualified leads.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Workforce Intelligence Engine — Growth Strategy</dc:title>
  <dc:subject>PptxGenJS Presentation</dc:subject>
  <dc:creator>Founder's Office</dc:creator>
  <cp:lastModifiedBy>Founder's Office</cp:lastModifiedBy>
  <cp:revision>1</cp:revision>
  <dcterms:created xsi:type="dcterms:W3CDTF">2026-06-06T08:14:15Z</dcterms:created>
  <dcterms:modified xsi:type="dcterms:W3CDTF">2026-06-06T08:14:15Z</dcterms:modified>
</cp:coreProperties>
</file>